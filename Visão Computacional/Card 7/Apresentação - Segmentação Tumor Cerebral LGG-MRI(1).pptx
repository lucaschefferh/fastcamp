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79300"/>
  <p:notesSz cx="121793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A0B505-D88F-4AEB-9AAD-C59FD558CCFB}">
  <a:tblStyle styleId="{7DA0B505-D88F-4AEB-9AAD-C59FD558CCF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0275" y="514350"/>
            <a:ext cx="81199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7925" y="3257550"/>
            <a:ext cx="9743425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1217925" y="3257550"/>
            <a:ext cx="9743425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2030275" y="514350"/>
            <a:ext cx="81199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1217925" y="3257550"/>
            <a:ext cx="9743425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2030275" y="514350"/>
            <a:ext cx="81199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1217925" y="3257550"/>
            <a:ext cx="9743425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2030275" y="514350"/>
            <a:ext cx="81199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1217925" y="3257550"/>
            <a:ext cx="9743425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2030275" y="514350"/>
            <a:ext cx="81199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1217925" y="3257550"/>
            <a:ext cx="9743425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2030275" y="514350"/>
            <a:ext cx="81199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1217925" y="3257550"/>
            <a:ext cx="9743425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2030275" y="514350"/>
            <a:ext cx="81199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1217925" y="3257550"/>
            <a:ext cx="9743425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2030275" y="514350"/>
            <a:ext cx="81199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1217925" y="3257550"/>
            <a:ext cx="9743425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2030275" y="514350"/>
            <a:ext cx="81199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1217925" y="3257550"/>
            <a:ext cx="9743425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2030275" y="514350"/>
            <a:ext cx="81199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1217925" y="3257550"/>
            <a:ext cx="9743425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2030275" y="514350"/>
            <a:ext cx="81199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2179300" cy="6858000"/>
          </a:xfrm>
          <a:custGeom>
            <a:rect b="b" l="l" r="r" t="t"/>
            <a:pathLst>
              <a:path extrusionOk="0" h="6858000" w="12179300">
                <a:moveTo>
                  <a:pt x="12179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7999"/>
                </a:lnTo>
                <a:close/>
              </a:path>
            </a:pathLst>
          </a:custGeom>
          <a:solidFill>
            <a:srgbClr val="1C1B1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320040" y="365759"/>
            <a:ext cx="27940" cy="6126480"/>
          </a:xfrm>
          <a:custGeom>
            <a:rect b="b" l="l" r="r" t="t"/>
            <a:pathLst>
              <a:path extrusionOk="0" h="6126480" w="27939">
                <a:moveTo>
                  <a:pt x="27939" y="6126479"/>
                </a:moveTo>
                <a:lnTo>
                  <a:pt x="0" y="6126479"/>
                </a:lnTo>
                <a:lnTo>
                  <a:pt x="0" y="0"/>
                </a:lnTo>
                <a:lnTo>
                  <a:pt x="27939" y="0"/>
                </a:lnTo>
                <a:lnTo>
                  <a:pt x="27939" y="6126479"/>
                </a:lnTo>
                <a:close/>
              </a:path>
            </a:pathLst>
          </a:custGeom>
          <a:solidFill>
            <a:srgbClr val="F6F3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895985" y="2334767"/>
            <a:ext cx="8688705" cy="2104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41350" y="1773551"/>
            <a:ext cx="10695940" cy="3687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6272339" y="1577340"/>
            <a:ext cx="5297995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2179300" cy="6858000"/>
          </a:xfrm>
          <a:custGeom>
            <a:rect b="b" l="l" r="r" t="t"/>
            <a:pathLst>
              <a:path extrusionOk="0" h="6858000" w="12179300">
                <a:moveTo>
                  <a:pt x="12179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7999"/>
                </a:lnTo>
                <a:close/>
              </a:path>
            </a:pathLst>
          </a:custGeom>
          <a:solidFill>
            <a:srgbClr val="F6F3E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320040" y="365759"/>
            <a:ext cx="27940" cy="6126480"/>
          </a:xfrm>
          <a:custGeom>
            <a:rect b="b" l="l" r="r" t="t"/>
            <a:pathLst>
              <a:path extrusionOk="0" h="6126480" w="27939">
                <a:moveTo>
                  <a:pt x="27939" y="6126479"/>
                </a:moveTo>
                <a:lnTo>
                  <a:pt x="0" y="6126479"/>
                </a:lnTo>
                <a:lnTo>
                  <a:pt x="0" y="0"/>
                </a:lnTo>
                <a:lnTo>
                  <a:pt x="27939" y="0"/>
                </a:lnTo>
                <a:lnTo>
                  <a:pt x="27939" y="612647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641350" y="1773551"/>
            <a:ext cx="10695940" cy="3687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/>
        </p:nvSpPr>
        <p:spPr>
          <a:xfrm>
            <a:off x="895985" y="841755"/>
            <a:ext cx="3111500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88A7E"/>
                </a:solidFill>
                <a:latin typeface="Calibri"/>
                <a:ea typeface="Calibri"/>
                <a:cs typeface="Calibri"/>
                <a:sym typeface="Calibri"/>
              </a:rPr>
              <a:t>PROJETO FINAL · SEGMENTAÇÃO SEMÂNTICA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8" name="Google Shape;48;p7"/>
          <p:cNvSpPr txBox="1"/>
          <p:nvPr>
            <p:ph type="ctrTitle"/>
          </p:nvPr>
        </p:nvSpPr>
        <p:spPr>
          <a:xfrm>
            <a:off x="895985" y="2334767"/>
            <a:ext cx="8688705" cy="2104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25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6F3EC"/>
                </a:solidFill>
              </a:rPr>
              <a:t>Segmentação de Tumor Cerebral em Imagens de Ressonância Magnética (LGG)</a:t>
            </a:r>
            <a:endParaRPr sz="4400"/>
          </a:p>
        </p:txBody>
      </p:sp>
      <p:sp>
        <p:nvSpPr>
          <p:cNvPr id="49" name="Google Shape;49;p7"/>
          <p:cNvSpPr/>
          <p:nvPr/>
        </p:nvSpPr>
        <p:spPr>
          <a:xfrm>
            <a:off x="822960" y="4617720"/>
            <a:ext cx="822960" cy="30480"/>
          </a:xfrm>
          <a:custGeom>
            <a:rect b="b" l="l" r="r" t="t"/>
            <a:pathLst>
              <a:path extrusionOk="0" h="30479" w="822960">
                <a:moveTo>
                  <a:pt x="822959" y="30479"/>
                </a:moveTo>
                <a:lnTo>
                  <a:pt x="0" y="30479"/>
                </a:lnTo>
                <a:lnTo>
                  <a:pt x="0" y="0"/>
                </a:lnTo>
                <a:lnTo>
                  <a:pt x="822959" y="0"/>
                </a:lnTo>
                <a:lnTo>
                  <a:pt x="822959" y="3047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 txBox="1"/>
          <p:nvPr/>
        </p:nvSpPr>
        <p:spPr>
          <a:xfrm>
            <a:off x="895985" y="4818126"/>
            <a:ext cx="8119745" cy="261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B9B4AA"/>
                </a:solidFill>
                <a:latin typeface="Georgia"/>
                <a:ea typeface="Georgia"/>
                <a:cs typeface="Georgia"/>
                <a:sym typeface="Georgia"/>
              </a:rPr>
              <a:t>U-Net e U-Net++ sob diferentes encoders — da suspeita de overfitting ao ponto de equilíbrio</a:t>
            </a:r>
            <a:endParaRPr sz="155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895985" y="6099302"/>
            <a:ext cx="1968500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6F3EC"/>
                </a:solidFill>
                <a:latin typeface="Calibri"/>
                <a:ea typeface="Calibri"/>
                <a:cs typeface="Calibri"/>
                <a:sym typeface="Calibri"/>
              </a:rPr>
              <a:t>Lucas Scheffer Hundsdorfer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 txBox="1"/>
          <p:nvPr/>
        </p:nvSpPr>
        <p:spPr>
          <a:xfrm rot="5400000">
            <a:off x="11019346" y="3007042"/>
            <a:ext cx="1644014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C8880"/>
                </a:solidFill>
                <a:latin typeface="Calibri"/>
                <a:ea typeface="Calibri"/>
                <a:cs typeface="Calibri"/>
                <a:sym typeface="Calibri"/>
              </a:rPr>
              <a:t>TCGA · KAGGLE · LGG-MRI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/>
        </p:nvSpPr>
        <p:spPr>
          <a:xfrm>
            <a:off x="758825" y="457961"/>
            <a:ext cx="74549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8" name="Google Shape;58;p8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problema e o objetivo do projeto</a:t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685800" y="1426463"/>
            <a:ext cx="502920" cy="25400"/>
          </a:xfrm>
          <a:custGeom>
            <a:rect b="b" l="l" r="r" t="t"/>
            <a:pathLst>
              <a:path extrusionOk="0" h="25400" w="502919">
                <a:moveTo>
                  <a:pt x="502919" y="25399"/>
                </a:moveTo>
                <a:lnTo>
                  <a:pt x="0" y="25399"/>
                </a:lnTo>
                <a:lnTo>
                  <a:pt x="0" y="0"/>
                </a:lnTo>
                <a:lnTo>
                  <a:pt x="502919" y="0"/>
                </a:lnTo>
                <a:lnTo>
                  <a:pt x="502919" y="2539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7863840" y="2121966"/>
            <a:ext cx="578485" cy="276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u="sng">
                <a:solidFill>
                  <a:srgbClr val="211F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758825" y="1729688"/>
            <a:ext cx="61698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Segmentação de tumor cerebral (LGG) é a tarefa de identificar, pixel a pixel, a região do tumor em exames de MRI diferente de classificação, aqui não basta dizer se há tumor: é preciso desenhar exatamente onde ele está.</a:t>
            </a:r>
            <a:endParaRPr sz="16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/>
          <p:nvPr/>
        </p:nvSpPr>
        <p:spPr>
          <a:xfrm>
            <a:off x="758825" y="3491433"/>
            <a:ext cx="6336665" cy="669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Isso importa porque pode auxiliar radiologistas a localizar e medir o tumor de forma mais rápida e consistente.</a:t>
            </a:r>
            <a:endParaRPr sz="16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758825" y="4609439"/>
            <a:ext cx="6078855" cy="131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O objetivo deste projeto foi treinar e comparar arquiteturas de segmentação (U-Net, U-Net++) sob diferentes encoders, entender o trade-off entre capacidade e generalização, e chegar ao melhor modelo possível para este dataset.</a:t>
            </a:r>
            <a:endParaRPr sz="16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7936865" y="1791208"/>
            <a:ext cx="75120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110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8"/>
          <p:cNvSpPr txBox="1"/>
          <p:nvPr/>
        </p:nvSpPr>
        <p:spPr>
          <a:xfrm>
            <a:off x="7936865" y="2498090"/>
            <a:ext cx="1010919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PACIENTES (TCGA)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 txBox="1"/>
          <p:nvPr/>
        </p:nvSpPr>
        <p:spPr>
          <a:xfrm>
            <a:off x="7936865" y="2888488"/>
            <a:ext cx="1264920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3.929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7876540" y="3483864"/>
            <a:ext cx="502920" cy="20320"/>
          </a:xfrm>
          <a:custGeom>
            <a:rect b="b" l="l" r="r" t="t"/>
            <a:pathLst>
              <a:path extrusionOk="0" h="20320" w="502920">
                <a:moveTo>
                  <a:pt x="502919" y="20319"/>
                </a:moveTo>
                <a:lnTo>
                  <a:pt x="0" y="20319"/>
                </a:lnTo>
                <a:lnTo>
                  <a:pt x="0" y="0"/>
                </a:lnTo>
                <a:lnTo>
                  <a:pt x="502919" y="0"/>
                </a:lnTo>
                <a:lnTo>
                  <a:pt x="502919" y="2031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8"/>
          <p:cNvSpPr txBox="1"/>
          <p:nvPr/>
        </p:nvSpPr>
        <p:spPr>
          <a:xfrm>
            <a:off x="7936865" y="3595370"/>
            <a:ext cx="1537335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PARES IMAGEM / MÁSCARA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 txBox="1"/>
          <p:nvPr/>
        </p:nvSpPr>
        <p:spPr>
          <a:xfrm>
            <a:off x="7936865" y="3985766"/>
            <a:ext cx="227266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35% / 65%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7876540" y="4581142"/>
            <a:ext cx="502920" cy="20320"/>
          </a:xfrm>
          <a:custGeom>
            <a:rect b="b" l="l" r="r" t="t"/>
            <a:pathLst>
              <a:path extrusionOk="0" h="20320" w="502920">
                <a:moveTo>
                  <a:pt x="502919" y="20319"/>
                </a:moveTo>
                <a:lnTo>
                  <a:pt x="0" y="20319"/>
                </a:lnTo>
                <a:lnTo>
                  <a:pt x="0" y="0"/>
                </a:lnTo>
                <a:lnTo>
                  <a:pt x="502919" y="0"/>
                </a:lnTo>
                <a:lnTo>
                  <a:pt x="502919" y="2031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"/>
          <p:cNvSpPr txBox="1"/>
          <p:nvPr/>
        </p:nvSpPr>
        <p:spPr>
          <a:xfrm>
            <a:off x="7936865" y="4692649"/>
            <a:ext cx="1946275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FATIAS COM TUMOR / SEM TUMOR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Segmentação de Tumor Cerebral LGG-MRI</a:t>
            </a:r>
            <a:endParaRPr/>
          </a:p>
        </p:txBody>
      </p:sp>
      <p:sp>
        <p:nvSpPr>
          <p:cNvPr id="73" name="Google Shape;73;p8"/>
          <p:cNvSpPr txBox="1"/>
          <p:nvPr/>
        </p:nvSpPr>
        <p:spPr>
          <a:xfrm>
            <a:off x="11260430" y="6579552"/>
            <a:ext cx="37084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02 / 10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/>
          <p:nvPr/>
        </p:nvSpPr>
        <p:spPr>
          <a:xfrm>
            <a:off x="758825" y="457961"/>
            <a:ext cx="50038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DADOS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79" name="Google Shape;79;p9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Dataset: LGG MRI Segmentation (Kaggle / TCGA)</a:t>
            </a:r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685800" y="1426463"/>
            <a:ext cx="502920" cy="25400"/>
          </a:xfrm>
          <a:custGeom>
            <a:rect b="b" l="l" r="r" t="t"/>
            <a:pathLst>
              <a:path extrusionOk="0" h="25400" w="502919">
                <a:moveTo>
                  <a:pt x="502919" y="25399"/>
                </a:moveTo>
                <a:lnTo>
                  <a:pt x="0" y="25399"/>
                </a:lnTo>
                <a:lnTo>
                  <a:pt x="0" y="0"/>
                </a:lnTo>
                <a:lnTo>
                  <a:pt x="502919" y="0"/>
                </a:lnTo>
                <a:lnTo>
                  <a:pt x="502919" y="2539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 txBox="1"/>
          <p:nvPr/>
        </p:nvSpPr>
        <p:spPr>
          <a:xfrm>
            <a:off x="758825" y="1800352"/>
            <a:ext cx="6083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4955" lvl="0" marL="287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6F66"/>
              </a:buClr>
              <a:buSzPts val="1600"/>
              <a:buFont typeface="Calibri"/>
              <a:buChar char="—"/>
            </a:pPr>
            <a:r>
              <a:rPr b="1" lang="en-US" sz="16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Imagens FLAIR </a:t>
            </a:r>
            <a:r>
              <a:rPr lang="en-US" sz="16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em .tif, com máscara binária de segmentação por fatia.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74955" lvl="0" marL="287655" marR="508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736F66"/>
              </a:buClr>
              <a:buSzPts val="1600"/>
              <a:buFont typeface="Calibri"/>
              <a:buChar char="—"/>
            </a:pPr>
            <a:r>
              <a:rPr b="1" lang="en-US" sz="16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Divisão por paciente </a:t>
            </a:r>
            <a:r>
              <a:rPr lang="en-US" sz="16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não por fatia  para evitar data leakage entre treino, validação e teste.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74955" lvl="0" marL="287655" rtl="0" algn="l">
              <a:lnSpc>
                <a:spcPct val="100000"/>
              </a:lnSpc>
              <a:spcBef>
                <a:spcPts val="1630"/>
              </a:spcBef>
              <a:spcAft>
                <a:spcPts val="0"/>
              </a:spcAft>
              <a:buClr>
                <a:srgbClr val="736F66"/>
              </a:buClr>
              <a:buSzPts val="1600"/>
              <a:buFont typeface="Calibri"/>
              <a:buChar char="—"/>
            </a:pPr>
            <a:r>
              <a:rPr b="1" lang="en-US" sz="16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Proporção 70 / 15 / 15</a:t>
            </a:r>
            <a:r>
              <a:rPr lang="en-US" sz="16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, resultando em 77 / 16 / 17 pacientes.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Segmentação de Tumor Cerebral LGG-MRI</a:t>
            </a:r>
            <a:endParaRPr/>
          </a:p>
        </p:txBody>
      </p:sp>
      <p:sp>
        <p:nvSpPr>
          <p:cNvPr id="83" name="Google Shape;83;p9"/>
          <p:cNvSpPr txBox="1"/>
          <p:nvPr/>
        </p:nvSpPr>
        <p:spPr>
          <a:xfrm>
            <a:off x="11260430" y="6579552"/>
            <a:ext cx="37084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03 / 10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 txBox="1"/>
          <p:nvPr/>
        </p:nvSpPr>
        <p:spPr>
          <a:xfrm>
            <a:off x="758952" y="60533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i="1">
                <a:solidFill>
                  <a:srgbClr val="736F66"/>
                </a:solidFill>
                <a:latin typeface="Georgia"/>
                <a:ea typeface="Georgia"/>
                <a:cs typeface="Georgia"/>
                <a:sym typeface="Georgia"/>
              </a:rPr>
              <a:t>Fig. 1  Fatia axial FLAIR, máscara binária anotada e sobreposição: a rede recebe a imagem e precisa reproduzir a máscara, pixel a pixel.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85" name="Google Shape;85;p9"/>
          <p:cNvGraphicFramePr/>
          <p:nvPr/>
        </p:nvGraphicFramePr>
        <p:xfrm>
          <a:off x="7446009" y="18192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{7DA0B505-D88F-4AEB-9AAD-C59FD558CCFB}</a:tableStyleId>
              </a:tblPr>
              <a:tblGrid>
                <a:gridCol w="1737350"/>
                <a:gridCol w="704225"/>
                <a:gridCol w="704225"/>
                <a:gridCol w="695325"/>
              </a:tblGrid>
              <a:tr h="50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Treino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Val.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495925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Pacientes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505450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Pares img./másc.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9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2.719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9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9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589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9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</a:tbl>
          </a:graphicData>
        </a:graphic>
      </p:graphicFrame>
      <p:pic>
        <p:nvPicPr>
          <p:cNvPr id="86" name="Fig1 dataset exemplo" descr="dataset_exemp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520440"/>
            <a:ext cx="7086600" cy="24507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/>
        </p:nvSpPr>
        <p:spPr>
          <a:xfrm>
            <a:off x="758825" y="457961"/>
            <a:ext cx="10414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91" name="Google Shape;91;p10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Arquiteturas: encoder e decoder desacoplados</a:t>
            </a:r>
            <a:endParaRPr/>
          </a:p>
        </p:txBody>
      </p:sp>
      <p:sp>
        <p:nvSpPr>
          <p:cNvPr id="92" name="Google Shape;92;p10"/>
          <p:cNvSpPr/>
          <p:nvPr/>
        </p:nvSpPr>
        <p:spPr>
          <a:xfrm>
            <a:off x="685800" y="1426463"/>
            <a:ext cx="502920" cy="25400"/>
          </a:xfrm>
          <a:custGeom>
            <a:rect b="b" l="l" r="r" t="t"/>
            <a:pathLst>
              <a:path extrusionOk="0" h="25400" w="502919">
                <a:moveTo>
                  <a:pt x="502919" y="25399"/>
                </a:moveTo>
                <a:lnTo>
                  <a:pt x="0" y="25399"/>
                </a:lnTo>
                <a:lnTo>
                  <a:pt x="0" y="0"/>
                </a:lnTo>
                <a:lnTo>
                  <a:pt x="502919" y="0"/>
                </a:lnTo>
                <a:lnTo>
                  <a:pt x="502919" y="2539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"/>
          <p:cNvSpPr txBox="1"/>
          <p:nvPr/>
        </p:nvSpPr>
        <p:spPr>
          <a:xfrm>
            <a:off x="758825" y="1753361"/>
            <a:ext cx="103062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736F66"/>
                </a:solidFill>
                <a:latin typeface="Georgia"/>
                <a:ea typeface="Georgia"/>
                <a:cs typeface="Georgia"/>
                <a:sym typeface="Georgia"/>
              </a:rPr>
              <a:t>Diferente de outras tarefas de visão computacional, segmentação semântica separa a escolha do encoder (backbone) da arquitetura de decoder  mais controle, mais fácil de iterar.</a:t>
            </a:r>
            <a:endParaRPr sz="155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5989320" y="2743200"/>
            <a:ext cx="15240" cy="3383279"/>
          </a:xfrm>
          <a:custGeom>
            <a:rect b="b" l="l" r="r" t="t"/>
            <a:pathLst>
              <a:path extrusionOk="0" h="3383279" w="15239">
                <a:moveTo>
                  <a:pt x="15239" y="3383279"/>
                </a:moveTo>
                <a:lnTo>
                  <a:pt x="0" y="3383279"/>
                </a:lnTo>
                <a:lnTo>
                  <a:pt x="0" y="0"/>
                </a:lnTo>
                <a:lnTo>
                  <a:pt x="15239" y="0"/>
                </a:lnTo>
                <a:lnTo>
                  <a:pt x="15239" y="3383279"/>
                </a:lnTo>
                <a:close/>
              </a:path>
            </a:pathLst>
          </a:custGeom>
          <a:solidFill>
            <a:srgbClr val="D9D3C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"/>
          <p:cNvSpPr txBox="1"/>
          <p:nvPr/>
        </p:nvSpPr>
        <p:spPr>
          <a:xfrm>
            <a:off x="758825" y="2758948"/>
            <a:ext cx="205168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U-Net + ResNet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18 / 34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Segmentação de Tumor Cerebral LGG-MRI</a:t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11260430" y="6579552"/>
            <a:ext cx="37084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04 / 10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758825" y="3675379"/>
            <a:ext cx="304038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Base sólida e amplamente validada.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 txBox="1"/>
          <p:nvPr/>
        </p:nvSpPr>
        <p:spPr>
          <a:xfrm>
            <a:off x="758825" y="4030980"/>
            <a:ext cx="4740275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ResNet é um dos backbones mais confiáveis e testados na literatura.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758825" y="4670044"/>
            <a:ext cx="4537710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Serve de referência de estabilidade para comparar com combinações mais complexas.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 txBox="1"/>
          <p:nvPr/>
        </p:nvSpPr>
        <p:spPr>
          <a:xfrm>
            <a:off x="6428105" y="2758948"/>
            <a:ext cx="300418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U-Net++ + EfficientNet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B0 / B2 / B4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 txBox="1"/>
          <p:nvPr/>
        </p:nvSpPr>
        <p:spPr>
          <a:xfrm>
            <a:off x="6428105" y="3647948"/>
            <a:ext cx="4424680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Sub-redes densas (nested skip connections) refinam a informação do tumor várias vezes antes da decisão final.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6428105" y="4314444"/>
            <a:ext cx="443039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EfficientNet extrai mais características por parâmetro.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6428105" y="4670044"/>
            <a:ext cx="47301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Mais expressivo porém mais propenso a overfitting em datasets pequenos.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/>
        </p:nvSpPr>
        <p:spPr>
          <a:xfrm>
            <a:off x="758825" y="457961"/>
            <a:ext cx="10414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10" name="Google Shape;110;p11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Função de perda e métricas de avaliação</a:t>
            </a:r>
            <a:endParaRPr/>
          </a:p>
        </p:txBody>
      </p:sp>
      <p:sp>
        <p:nvSpPr>
          <p:cNvPr id="111" name="Google Shape;111;p11"/>
          <p:cNvSpPr txBox="1"/>
          <p:nvPr/>
        </p:nvSpPr>
        <p:spPr>
          <a:xfrm>
            <a:off x="758825" y="1845055"/>
            <a:ext cx="4250100" cy="26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Loss composta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377825" rtl="0" algn="l">
              <a:lnSpc>
                <a:spcPct val="112000"/>
              </a:lnSpc>
              <a:spcBef>
                <a:spcPts val="1955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1"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0.5 × BCE: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ensina pixel a pixel o que é fundo, cérebro e tumor.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5367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1"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+ 0.5 × Dice Loss: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 baseada na sobreposição; compensa o desbalanceamento de classes que a BCE sozinha não resolve bem.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1"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loss mais estável, menos enviesada pela predominância de fundo/sem-tumor.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685800" y="1426463"/>
            <a:ext cx="502920" cy="25400"/>
          </a:xfrm>
          <a:custGeom>
            <a:rect b="b" l="l" r="r" t="t"/>
            <a:pathLst>
              <a:path extrusionOk="0" h="25400" w="502919">
                <a:moveTo>
                  <a:pt x="502919" y="25399"/>
                </a:moveTo>
                <a:lnTo>
                  <a:pt x="0" y="25399"/>
                </a:lnTo>
                <a:lnTo>
                  <a:pt x="0" y="0"/>
                </a:lnTo>
                <a:lnTo>
                  <a:pt x="502919" y="0"/>
                </a:lnTo>
                <a:lnTo>
                  <a:pt x="502919" y="2539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"/>
          <p:cNvSpPr/>
          <p:nvPr/>
        </p:nvSpPr>
        <p:spPr>
          <a:xfrm>
            <a:off x="5257800" y="1828800"/>
            <a:ext cx="15240" cy="4480560"/>
          </a:xfrm>
          <a:custGeom>
            <a:rect b="b" l="l" r="r" t="t"/>
            <a:pathLst>
              <a:path extrusionOk="0" h="4480560" w="15239">
                <a:moveTo>
                  <a:pt x="15239" y="4480559"/>
                </a:moveTo>
                <a:lnTo>
                  <a:pt x="0" y="4480559"/>
                </a:lnTo>
                <a:lnTo>
                  <a:pt x="0" y="0"/>
                </a:lnTo>
                <a:lnTo>
                  <a:pt x="15239" y="0"/>
                </a:lnTo>
                <a:lnTo>
                  <a:pt x="15239" y="4480559"/>
                </a:lnTo>
                <a:close/>
              </a:path>
            </a:pathLst>
          </a:custGeom>
          <a:solidFill>
            <a:srgbClr val="D9D3C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"/>
          <p:cNvSpPr txBox="1"/>
          <p:nvPr/>
        </p:nvSpPr>
        <p:spPr>
          <a:xfrm>
            <a:off x="5696585" y="1845055"/>
            <a:ext cx="19856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Métricas usadas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11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Segmentação de Tumor Cerebral LGG-MRI</a:t>
            </a:r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11260430" y="6579552"/>
            <a:ext cx="37084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05 / 10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5696585" y="2367788"/>
            <a:ext cx="5480100" cy="22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5875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1"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Precisão: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de tudo que o modelo marcou como tumor, quanto era tumor de fato.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1"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Recall: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de tudo que era tumor, quanto o modelo capturou; crítico na medicina, mede o risco de deixar passar um tumor.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257810" lvl="0" marL="27051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736F66"/>
              </a:buClr>
              <a:buSzPts val="1500"/>
              <a:buFont typeface="Calibri"/>
              <a:buChar char="—"/>
            </a:pPr>
            <a:r>
              <a:rPr b="1"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Dice / F1: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 equilíbrio entre precisão e recall.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257810" lvl="0" marL="270510" marR="20574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736F66"/>
              </a:buClr>
              <a:buSzPts val="1500"/>
              <a:buFont typeface="Calibri"/>
              <a:buChar char="—"/>
            </a:pPr>
            <a:r>
              <a:rPr b="1"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IoU: </a:t>
            </a:r>
            <a:r>
              <a:rPr lang="en-US" sz="150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 a mais rigorosa: mede o quanto da anatomia do tumor foi acertada.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/>
        </p:nvSpPr>
        <p:spPr>
          <a:xfrm>
            <a:off x="758825" y="457961"/>
            <a:ext cx="2173605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EXPERIMENTOS · ITERAÇÕES 1–2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23" name="Google Shape;123;p12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O problema: overfitting severo</a:t>
            </a:r>
            <a:endParaRPr sz="2700"/>
          </a:p>
        </p:txBody>
      </p:sp>
      <p:sp>
        <p:nvSpPr>
          <p:cNvPr id="124" name="Google Shape;124;p12"/>
          <p:cNvSpPr/>
          <p:nvPr/>
        </p:nvSpPr>
        <p:spPr>
          <a:xfrm>
            <a:off x="685800" y="1426463"/>
            <a:ext cx="502920" cy="25400"/>
          </a:xfrm>
          <a:custGeom>
            <a:rect b="b" l="l" r="r" t="t"/>
            <a:pathLst>
              <a:path extrusionOk="0" h="25400" w="502919">
                <a:moveTo>
                  <a:pt x="502919" y="25399"/>
                </a:moveTo>
                <a:lnTo>
                  <a:pt x="0" y="25399"/>
                </a:lnTo>
                <a:lnTo>
                  <a:pt x="0" y="0"/>
                </a:lnTo>
                <a:lnTo>
                  <a:pt x="502919" y="0"/>
                </a:lnTo>
                <a:lnTo>
                  <a:pt x="502919" y="2539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"/>
          <p:cNvSpPr txBox="1"/>
          <p:nvPr/>
        </p:nvSpPr>
        <p:spPr>
          <a:xfrm>
            <a:off x="758825" y="1772259"/>
            <a:ext cx="4882500" cy="20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-266065" lvl="0" marL="278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6F66"/>
              </a:buClr>
              <a:buSzPts val="1550"/>
              <a:buFont typeface="Calibri"/>
              <a:buChar char="—"/>
            </a:pPr>
            <a:r>
              <a:rPr b="1"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1ª iteração  </a:t>
            </a:r>
            <a:r>
              <a:rPr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UNet/ResNet34 vs.</a:t>
            </a:r>
            <a:endParaRPr sz="15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UNet++/EfficientNet-B4, augmentation conservador. Gap treino–validação de 0.28 a 0.34 no Dice: overfitting evidente.</a:t>
            </a:r>
            <a:endParaRPr sz="1550">
              <a:latin typeface="Calibri"/>
              <a:ea typeface="Calibri"/>
              <a:cs typeface="Calibri"/>
              <a:sym typeface="Calibri"/>
            </a:endParaRPr>
          </a:p>
          <a:p>
            <a:pPr indent="-266065" lvl="0" marL="278765" marR="15875" rtl="0" algn="l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Clr>
                <a:srgbClr val="736F66"/>
              </a:buClr>
              <a:buSzPts val="1550"/>
              <a:buFont typeface="Calibri"/>
              <a:buChar char="—"/>
            </a:pPr>
            <a:r>
              <a:rPr b="1"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2ª iteração  </a:t>
            </a:r>
            <a:r>
              <a:rPr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augmentation bem mais agressivo (flip vertical, ruído, blur, distorção de grade) no EfficientNet-B4. O gap não melhorou (permaneceu ~0.28).</a:t>
            </a:r>
            <a:endParaRPr sz="155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783080"/>
            <a:ext cx="5361504" cy="4343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 txBox="1"/>
          <p:nvPr/>
        </p:nvSpPr>
        <p:spPr>
          <a:xfrm>
            <a:off x="758825" y="4453128"/>
            <a:ext cx="10740300" cy="19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Hipótese revisada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895340" rtl="0" algn="l">
              <a:lnSpc>
                <a:spcPct val="125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Os encoders (ResNet34, EfficientNet-B4) têm capacidade grande demais para as ~2.700 imagens de treino disponíveis  memorizam em vez de generalizar.</a:t>
            </a:r>
            <a:endParaRPr sz="15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Georgia"/>
              <a:ea typeface="Georgia"/>
              <a:cs typeface="Georgia"/>
              <a:sym typeface="Georgia"/>
            </a:endParaRPr>
          </a:p>
          <a:p>
            <a:pPr indent="0" lvl="0" marL="55905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736F66"/>
                </a:solidFill>
                <a:latin typeface="Georgia"/>
                <a:ea typeface="Georgia"/>
                <a:cs typeface="Georgia"/>
                <a:sym typeface="Georgia"/>
              </a:rPr>
              <a:t>Fig. 2  UNet++ / EfficientNet-B4: gap treino/val = 0.34, o maior do experimento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12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Segmentação de Tumor Cerebral LGG-MRI</a:t>
            </a:r>
            <a:endParaRPr/>
          </a:p>
        </p:txBody>
      </p:sp>
      <p:sp>
        <p:nvSpPr>
          <p:cNvPr id="129" name="Google Shape;129;p12"/>
          <p:cNvSpPr txBox="1"/>
          <p:nvPr/>
        </p:nvSpPr>
        <p:spPr>
          <a:xfrm>
            <a:off x="11260430" y="6579552"/>
            <a:ext cx="37084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06 / 10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758825" y="457961"/>
            <a:ext cx="1958339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EXPERIMENTOS · ITERAÇÃO 3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35" name="Google Shape;135;p13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Reduzindo a capacidade dos encoders</a:t>
            </a:r>
            <a:endParaRPr sz="2700"/>
          </a:p>
        </p:txBody>
      </p:sp>
      <p:sp>
        <p:nvSpPr>
          <p:cNvPr id="136" name="Google Shape;136;p13"/>
          <p:cNvSpPr/>
          <p:nvPr/>
        </p:nvSpPr>
        <p:spPr>
          <a:xfrm>
            <a:off x="685800" y="1426463"/>
            <a:ext cx="502920" cy="25400"/>
          </a:xfrm>
          <a:custGeom>
            <a:rect b="b" l="l" r="r" t="t"/>
            <a:pathLst>
              <a:path extrusionOk="0" h="25400" w="502919">
                <a:moveTo>
                  <a:pt x="502919" y="25399"/>
                </a:moveTo>
                <a:lnTo>
                  <a:pt x="0" y="25399"/>
                </a:lnTo>
                <a:lnTo>
                  <a:pt x="0" y="0"/>
                </a:lnTo>
                <a:lnTo>
                  <a:pt x="502919" y="0"/>
                </a:lnTo>
                <a:lnTo>
                  <a:pt x="502919" y="2539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758825" y="1753361"/>
            <a:ext cx="101106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736F66"/>
                </a:solidFill>
                <a:latin typeface="Georgia"/>
                <a:ea typeface="Georgia"/>
                <a:cs typeface="Georgia"/>
                <a:sym typeface="Georgia"/>
              </a:rPr>
              <a:t>Troca para encoders menores  ResNet18 e EfficientNet-B0  mantendo as arquiteturas, com mais regularização (weight decay, dropout, encoder_lr_factor).</a:t>
            </a:r>
            <a:endParaRPr sz="155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13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Segmentação de Tumor Cerebral LGG-MRI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11260430" y="6579552"/>
            <a:ext cx="37084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07 / 10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13"/>
          <p:cNvGraphicFramePr/>
          <p:nvPr/>
        </p:nvGraphicFramePr>
        <p:xfrm>
          <a:off x="679450" y="26422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{7DA0B505-D88F-4AEB-9AAD-C59FD558CCFB}</a:tableStyleId>
              </a:tblPr>
              <a:tblGrid>
                <a:gridCol w="4023350"/>
                <a:gridCol w="2194550"/>
                <a:gridCol w="2194550"/>
                <a:gridCol w="2194550"/>
              </a:tblGrid>
              <a:tr h="509900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51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 Dice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51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 treino/val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51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Dice (teste, com tumor)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51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495925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UNet / ResNet18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6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0.751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6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0.082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6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0.681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6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505450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UNet++ / EfficientNet-B0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0.775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0.059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0.722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13"/>
          <p:cNvSpPr txBox="1"/>
          <p:nvPr/>
        </p:nvSpPr>
        <p:spPr>
          <a:xfrm>
            <a:off x="758825" y="4411570"/>
            <a:ext cx="1028954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Novo trade-off revelado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3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O gap caiu bastante (0.06–0.08), mas o Dice de teste caiu junto (0.68–0.72, contra 0.75–0.76 dos modelos maiores). Encoders pequenos demais têm um teto de aprendizado mais baixo para este problema.</a:t>
            </a:r>
            <a:endParaRPr sz="155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/>
        </p:nvSpPr>
        <p:spPr>
          <a:xfrm>
            <a:off x="758825" y="457961"/>
            <a:ext cx="1958339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EXPERIMENTOS · ITERAÇÃO 4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47" name="Google Shape;147;p14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O ponto de equilíbrio: EfficientNet-B2</a:t>
            </a:r>
            <a:endParaRPr sz="2700"/>
          </a:p>
        </p:txBody>
      </p:sp>
      <p:sp>
        <p:nvSpPr>
          <p:cNvPr id="148" name="Google Shape;148;p14"/>
          <p:cNvSpPr/>
          <p:nvPr/>
        </p:nvSpPr>
        <p:spPr>
          <a:xfrm>
            <a:off x="685800" y="1426463"/>
            <a:ext cx="502920" cy="25400"/>
          </a:xfrm>
          <a:custGeom>
            <a:rect b="b" l="l" r="r" t="t"/>
            <a:pathLst>
              <a:path extrusionOk="0" h="25400" w="502919">
                <a:moveTo>
                  <a:pt x="502919" y="25399"/>
                </a:moveTo>
                <a:lnTo>
                  <a:pt x="0" y="25399"/>
                </a:lnTo>
                <a:lnTo>
                  <a:pt x="0" y="0"/>
                </a:lnTo>
                <a:lnTo>
                  <a:pt x="502919" y="0"/>
                </a:lnTo>
                <a:lnTo>
                  <a:pt x="502919" y="2539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758825" y="1772259"/>
            <a:ext cx="4772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66065" lvl="0" marL="278765" marR="508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36F66"/>
              </a:buClr>
              <a:buSzPts val="1550"/>
              <a:buFont typeface="Calibri"/>
              <a:buChar char="—"/>
            </a:pPr>
            <a:r>
              <a:rPr b="1"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Meio-termo </a:t>
            </a:r>
            <a:r>
              <a:rPr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entre o menor encoder (B0) e o maior (B4): EfficientNet-B2, com a mesma regularização da 3ª iteração.</a:t>
            </a:r>
            <a:endParaRPr sz="1550">
              <a:latin typeface="Calibri"/>
              <a:ea typeface="Calibri"/>
              <a:cs typeface="Calibri"/>
              <a:sym typeface="Calibri"/>
            </a:endParaRPr>
          </a:p>
          <a:p>
            <a:pPr indent="-266065" lvl="0" marL="278765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736F66"/>
              </a:buClr>
              <a:buSzPts val="1550"/>
              <a:buFont typeface="Calibri"/>
              <a:buChar char="—"/>
            </a:pPr>
            <a:r>
              <a:rPr b="1"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Dice e IoU melhoraram </a:t>
            </a:r>
            <a:r>
              <a:rPr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sobre o B0 (0.743 / 0.656).</a:t>
            </a:r>
            <a:endParaRPr sz="1550">
              <a:latin typeface="Calibri"/>
              <a:ea typeface="Calibri"/>
              <a:cs typeface="Calibri"/>
              <a:sym typeface="Calibri"/>
            </a:endParaRPr>
          </a:p>
          <a:p>
            <a:pPr indent="-266065" lvl="0" marL="278765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>
                <a:srgbClr val="736F66"/>
              </a:buClr>
              <a:buSzPts val="1550"/>
              <a:buFont typeface="Calibri"/>
              <a:buChar char="—"/>
            </a:pPr>
            <a:r>
              <a:rPr b="1"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Recall = 0.819 </a:t>
            </a:r>
            <a:r>
              <a:rPr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 o maior entre os 6 modelos treinados.</a:t>
            </a:r>
            <a:endParaRPr sz="1550">
              <a:latin typeface="Calibri"/>
              <a:ea typeface="Calibri"/>
              <a:cs typeface="Calibri"/>
              <a:sym typeface="Calibri"/>
            </a:endParaRPr>
          </a:p>
          <a:p>
            <a:pPr indent="-266065" lvl="0" marL="278765" marR="187325" rtl="0" algn="l">
              <a:lnSpc>
                <a:spcPct val="112000"/>
              </a:lnSpc>
              <a:spcBef>
                <a:spcPts val="1100"/>
              </a:spcBef>
              <a:spcAft>
                <a:spcPts val="0"/>
              </a:spcAft>
              <a:buClr>
                <a:srgbClr val="736F66"/>
              </a:buClr>
              <a:buSzPts val="1550"/>
              <a:buFont typeface="Calibri"/>
              <a:buChar char="—"/>
            </a:pPr>
            <a:r>
              <a:rPr b="1"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Gap = 0.040 </a:t>
            </a:r>
            <a:r>
              <a:rPr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 o menor do experimento, mesmo com mais capacidade que o B0.</a:t>
            </a:r>
            <a:endParaRPr sz="15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685800" y="5074920"/>
            <a:ext cx="502920" cy="25400"/>
          </a:xfrm>
          <a:custGeom>
            <a:rect b="b" l="l" r="r" t="t"/>
            <a:pathLst>
              <a:path extrusionOk="0" h="25400" w="502919">
                <a:moveTo>
                  <a:pt x="502919" y="25399"/>
                </a:moveTo>
                <a:lnTo>
                  <a:pt x="0" y="25399"/>
                </a:lnTo>
                <a:lnTo>
                  <a:pt x="0" y="0"/>
                </a:lnTo>
                <a:lnTo>
                  <a:pt x="502919" y="0"/>
                </a:lnTo>
                <a:lnTo>
                  <a:pt x="502919" y="2539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758825" y="5214112"/>
            <a:ext cx="46590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Confirma a hipótese: existe um ponto de equilíbrio de capacidade entre B0 e B4 para este dataset  e o B2 o encontra.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783080"/>
            <a:ext cx="5361504" cy="4343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4"/>
          <p:cNvSpPr txBox="1"/>
          <p:nvPr/>
        </p:nvSpPr>
        <p:spPr>
          <a:xfrm>
            <a:off x="6336665" y="6219444"/>
            <a:ext cx="4764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736F66"/>
                </a:solidFill>
                <a:latin typeface="Georgia"/>
                <a:ea typeface="Georgia"/>
                <a:cs typeface="Georgia"/>
                <a:sym typeface="Georgia"/>
              </a:rPr>
              <a:t>Fig. 3  UNet++ / EfficientNet-B2: curvas de treino e validação muito mais próximas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4" name="Google Shape;154;p14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Segmentação de Tumor Cerebral LGG-MRI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11260430" y="6579552"/>
            <a:ext cx="37084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08 / 10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/>
        </p:nvSpPr>
        <p:spPr>
          <a:xfrm>
            <a:off x="758825" y="457961"/>
            <a:ext cx="869315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61" name="Google Shape;161;p15"/>
          <p:cNvSpPr txBox="1"/>
          <p:nvPr>
            <p:ph type="title"/>
          </p:nvPr>
        </p:nvSpPr>
        <p:spPr>
          <a:xfrm>
            <a:off x="758825" y="723391"/>
            <a:ext cx="96602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Comparativo dos 6 modelos treinados</a:t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685800" y="1426463"/>
            <a:ext cx="502920" cy="25400"/>
          </a:xfrm>
          <a:custGeom>
            <a:rect b="b" l="l" r="r" t="t"/>
            <a:pathLst>
              <a:path extrusionOk="0" h="25400" w="502919">
                <a:moveTo>
                  <a:pt x="502919" y="25399"/>
                </a:moveTo>
                <a:lnTo>
                  <a:pt x="0" y="25399"/>
                </a:lnTo>
                <a:lnTo>
                  <a:pt x="0" y="0"/>
                </a:lnTo>
                <a:lnTo>
                  <a:pt x="502919" y="0"/>
                </a:lnTo>
                <a:lnTo>
                  <a:pt x="502919" y="25399"/>
                </a:lnTo>
                <a:close/>
              </a:path>
            </a:pathLst>
          </a:custGeom>
          <a:solidFill>
            <a:srgbClr val="A639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3" name="Google Shape;163;p15"/>
          <p:cNvGraphicFramePr/>
          <p:nvPr/>
        </p:nvGraphicFramePr>
        <p:xfrm>
          <a:off x="679450" y="1773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{7DA0B505-D88F-4AEB-9AAD-C59FD558CCFB}</a:tableStyleId>
              </a:tblPr>
              <a:tblGrid>
                <a:gridCol w="1371600"/>
                <a:gridCol w="3017525"/>
                <a:gridCol w="1280150"/>
                <a:gridCol w="1188725"/>
                <a:gridCol w="1188725"/>
                <a:gridCol w="1280150"/>
                <a:gridCol w="1280150"/>
              </a:tblGrid>
              <a:tr h="509900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Backbone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 Dice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Dice*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Recall*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Detecção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523250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UNet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8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ResNet34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8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0.612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8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0.282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8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0.760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8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0.774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8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92.7%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8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A639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UNet++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EfficientNet-B4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0.603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0.340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0.763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0.765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95.3%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UNet++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EfficientNet-B4 (reg.)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0.606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0.281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0.755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0.765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95.1%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UNet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ResNet18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0.751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0.082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0.681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0.692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90.3%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UNet++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EfficientNet-B0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0.775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0.059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0.722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0.768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>
                          <a:solidFill>
                            <a:srgbClr val="211F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89.0%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47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A639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UNet++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A639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EfficientNet-B2 </a:t>
                      </a:r>
                      <a:r>
                        <a:rPr b="1" lang="en-US" sz="1350" u="none" cap="none" strike="noStrike">
                          <a:solidFill>
                            <a:srgbClr val="A639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 </a:t>
                      </a:r>
                      <a:r>
                        <a:rPr b="1" lang="en-US" sz="1350" u="none" cap="none" strike="noStrike">
                          <a:solidFill>
                            <a:srgbClr val="A639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escolhido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A639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0.778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A639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0.040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A639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0.743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A639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0.819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A639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88.3%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4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3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CF4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15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Segmentação de Tumor Cerebral LGG-MRI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1260430" y="6579552"/>
            <a:ext cx="37084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09 / 10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758825" y="5716270"/>
            <a:ext cx="98373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">
                <a:solidFill>
                  <a:srgbClr val="736F66"/>
                </a:solidFill>
                <a:latin typeface="Georgia"/>
                <a:ea typeface="Georgia"/>
                <a:cs typeface="Georgia"/>
                <a:sym typeface="Georgia"/>
              </a:rPr>
              <a:t>* Dice e Recall calculados apenas nas fatias com tumor presente  o Dice "geral" é enganoso, pois inclui fatias sem tumor onde Dice = 0 por definição.</a:t>
            </a:r>
            <a:endParaRPr sz="115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/>
        </p:nvSpPr>
        <p:spPr>
          <a:xfrm>
            <a:off x="758825" y="457961"/>
            <a:ext cx="845185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72" name="Google Shape;172;p16"/>
          <p:cNvSpPr txBox="1"/>
          <p:nvPr>
            <p:ph type="title"/>
          </p:nvPr>
        </p:nvSpPr>
        <p:spPr>
          <a:xfrm>
            <a:off x="758825" y="723391"/>
            <a:ext cx="5313680" cy="949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marR="508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Melhor modelo e próximos passos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758825" y="1647198"/>
            <a:ext cx="5230500" cy="13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3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00">
                <a:solidFill>
                  <a:srgbClr val="A6392C"/>
                </a:solidFill>
                <a:latin typeface="Georgia"/>
                <a:ea typeface="Georgia"/>
                <a:cs typeface="Georgia"/>
                <a:sym typeface="Georgia"/>
              </a:rPr>
              <a:t>UNet++ / EfficientNet-B2</a:t>
            </a:r>
            <a:endParaRPr sz="19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5080" rtl="0" algn="l">
              <a:lnSpc>
                <a:spcPct val="128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211F1B"/>
                </a:solidFill>
                <a:latin typeface="Calibri"/>
                <a:ea typeface="Calibri"/>
                <a:cs typeface="Calibri"/>
                <a:sym typeface="Calibri"/>
              </a:rPr>
              <a:t>Não é o maior Dice absoluto (0.743 contra 0.76 dos modelos maiores), mas tem o menor gap treino/validação (0.04) e o maior recall (0.82) a métrica mais relevante em contexto clínico.</a:t>
            </a:r>
            <a:endParaRPr sz="15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85800" y="3566159"/>
            <a:ext cx="5760720" cy="12700"/>
          </a:xfrm>
          <a:custGeom>
            <a:rect b="b" l="l" r="r" t="t"/>
            <a:pathLst>
              <a:path extrusionOk="0" h="12700" w="5760720">
                <a:moveTo>
                  <a:pt x="5760719" y="12699"/>
                </a:moveTo>
                <a:lnTo>
                  <a:pt x="0" y="12699"/>
                </a:lnTo>
                <a:lnTo>
                  <a:pt x="0" y="0"/>
                </a:lnTo>
                <a:lnTo>
                  <a:pt x="5760719" y="0"/>
                </a:lnTo>
                <a:lnTo>
                  <a:pt x="5760719" y="12699"/>
                </a:lnTo>
                <a:close/>
              </a:path>
            </a:pathLst>
          </a:custGeom>
          <a:solidFill>
            <a:srgbClr val="D9D3C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758825" y="3813048"/>
            <a:ext cx="5372735" cy="1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A6392C"/>
                </a:solidFill>
                <a:latin typeface="Calibri"/>
                <a:ea typeface="Calibri"/>
                <a:cs typeface="Calibri"/>
                <a:sym typeface="Calibri"/>
              </a:rPr>
              <a:t>Principal aprendizado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22555" rtl="0" algn="l">
              <a:lnSpc>
                <a:spcPct val="130000"/>
              </a:lnSpc>
              <a:spcBef>
                <a:spcPts val="655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Mais capacidade de encoder melhora as features aprendidas, mas aumenta o risco de overfitting em datasets pequenos.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508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Regularização adequada combinada ao encoder de porte certo encontra o equilíbrio.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758825" y="5825490"/>
            <a:ext cx="503618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Próximos passos: ensemble entre modelos, test-time augmentation, calibrar o threshold de binarização, testar o B4 com esta mesma regularização.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1234440"/>
            <a:ext cx="5029199" cy="498698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>
            <p:ph idx="11" type="ftr"/>
          </p:nvPr>
        </p:nvSpPr>
        <p:spPr>
          <a:xfrm>
            <a:off x="758825" y="6579552"/>
            <a:ext cx="208153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Segmentação de Tumor Cerebral LGG-MRI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11260430" y="6579552"/>
            <a:ext cx="37084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36F66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